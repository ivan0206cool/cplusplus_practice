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C++ Practice 練習題目集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CCE0EB"/>
                </a:solidFill>
              </a:rPr>
              <a:t>c++ 基礎知識 ・ 演算法之美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專案總覽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倉庫用途：一系列獨立的 C++ 練習題，每個檔案都是自成一體的 main() 程式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目前分為兩個主題資料夾：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c++ 基礎知識 — 基礎語法、條件判斷、簡單數學題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B2B2B"/>
                </a:solidFill>
              </a:rPr>
              <a:t>演算法之美 — 演算法思維練習，並示範程式碼改進過程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編譯與執行方式一致：g++ 練習N.cpp -o 練習N  然後 ./練習N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c++ 基礎知識 — 題目列表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檔案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題目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輸入圓的半徑 r，輸出其直徑、圓周長和面積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給定三條線段的長度，判斷能否構成三角形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給定一個整數，判斷是奇數還是偶數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給定一個年份，判斷是否為閏年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輸入體重和身高，根據 BMI 指數判斷體型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給定一個整數，判斷它能否被 3、5、7 整除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給定 n 個整數的序列，作去重操作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輸入圓的半徑 r，輸出其直徑、圓周長和面積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double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double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diameter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2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double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circumference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2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M_PI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double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area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M_PI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"Diameter: "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diameter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"Circumference: "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circumference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"Area: "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area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基礎知識/練習1.cpp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給定三條線段的長度(正整數)，判斷能否構成三角形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a</a:t>
            </a:r>
            <a:r>
              <a:rPr sz="1400">
                <a:solidFill>
                  <a:srgbClr val="333333"/>
                </a:solidFill>
                <a:latin typeface="Consolas"/>
              </a:rPr>
              <a:t>,</a:t>
            </a:r>
            <a:r>
              <a:rPr sz="1400">
                <a:solidFill>
                  <a:srgbClr val="333333"/>
                </a:solidFill>
                <a:latin typeface="Consolas"/>
              </a:rPr>
              <a:t>b</a:t>
            </a:r>
            <a:r>
              <a:rPr sz="1400">
                <a:solidFill>
                  <a:srgbClr val="333333"/>
                </a:solidFill>
                <a:latin typeface="Consolas"/>
              </a:rPr>
              <a:t>,</a:t>
            </a:r>
            <a:r>
              <a:rPr sz="1400">
                <a:solidFill>
                  <a:srgbClr val="333333"/>
                </a:solidFill>
                <a:latin typeface="Consolas"/>
              </a:rPr>
              <a:t>c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a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b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c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a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b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c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a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c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b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b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c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a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"Yes"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"No"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基礎知識/練習2.cpp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給定一個整數 n，判斷是奇數還是偶數，輸出 Odd / 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n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n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n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2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"Odd"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"Even"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基礎知識/練習3.cpp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給定一個年份 year，判斷是否為閏年，是輸出 1，否則輸出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year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year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year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4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year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100</a:t>
            </a:r>
            <a:r>
              <a:rPr sz="1400">
                <a:solidFill>
                  <a:srgbClr val="333333"/>
                </a:solidFill>
                <a:latin typeface="Consolas"/>
              </a:rPr>
              <a:t>!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|</a:t>
            </a:r>
            <a:r>
              <a:rPr sz="1400">
                <a:solidFill>
                  <a:srgbClr val="333333"/>
                </a:solidFill>
                <a:latin typeface="Consolas"/>
              </a:rPr>
              <a:t>|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year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400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098658"/>
                </a:solidFill>
                <a:latin typeface="Consolas"/>
              </a:rPr>
              <a:t>1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基礎知識/練習4.cpp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輸入體重(kg)和身高(m)，根據 BMI 指數判斷體型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float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weight</a:t>
            </a:r>
            <a:r>
              <a:rPr sz="1400">
                <a:solidFill>
                  <a:srgbClr val="333333"/>
                </a:solidFill>
                <a:latin typeface="Consolas"/>
              </a:rPr>
              <a:t>,</a:t>
            </a:r>
            <a:r>
              <a:rPr sz="1400">
                <a:solidFill>
                  <a:srgbClr val="333333"/>
                </a:solidFill>
                <a:latin typeface="Consolas"/>
              </a:rPr>
              <a:t>height</a:t>
            </a:r>
            <a:r>
              <a:rPr sz="1400">
                <a:solidFill>
                  <a:srgbClr val="333333"/>
                </a:solidFill>
                <a:latin typeface="Consolas"/>
              </a:rPr>
              <a:t>,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"輸入體重(kg) 身高(m)"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weight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height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weight</a:t>
            </a:r>
            <a:r>
              <a:rPr sz="1400">
                <a:solidFill>
                  <a:srgbClr val="333333"/>
                </a:solidFill>
                <a:latin typeface="Consolas"/>
              </a:rPr>
              <a:t>/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height</a:t>
            </a:r>
            <a:r>
              <a:rPr sz="1400">
                <a:solidFill>
                  <a:srgbClr val="333333"/>
                </a:solidFill>
                <a:latin typeface="Consolas"/>
              </a:rPr>
              <a:t>*</a:t>
            </a:r>
            <a:r>
              <a:rPr sz="1400">
                <a:solidFill>
                  <a:srgbClr val="333333"/>
                </a:solidFill>
                <a:latin typeface="Consolas"/>
              </a:rPr>
              <a:t>height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098658"/>
                </a:solidFill>
                <a:latin typeface="Consolas"/>
              </a:rPr>
              <a:t>18.5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"BMI:"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  Underweight"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else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18.5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098658"/>
                </a:solidFill>
                <a:latin typeface="Consolas"/>
              </a:rPr>
              <a:t>24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"BMI:"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  Normal"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else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"BMI:"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  Overweight"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795E26"/>
                </a:solidFill>
                <a:latin typeface="Consolas"/>
              </a:rPr>
              <a:t>endl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基礎知識/練習5.cpp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給定一個整數 x，判斷它能否被 3、5、7 整除，並輸出相關資訊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main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3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"3 "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5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"5 "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7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"7"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3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5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&amp;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%</a:t>
            </a:r>
            <a:r>
              <a:rPr sz="1400">
                <a:solidFill>
                  <a:srgbClr val="098658"/>
                </a:solidFill>
                <a:latin typeface="Consolas"/>
              </a:rPr>
              <a:t>7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"n"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A31515"/>
                </a:solidFill>
                <a:latin typeface="Consolas"/>
              </a:rPr>
              <a:t>"\n"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return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基礎知識/練習6.cpp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c++ 基礎知識 — 練習11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B2B2B"/>
                </a:solidFill>
              </a:rPr>
              <a:t>給定 n 個整數的序列，作去重操作（保留原始出現順序）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41148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400">
                <a:solidFill>
                  <a:srgbClr val="267F99"/>
                </a:solidFill>
                <a:latin typeface="Consolas"/>
              </a:rPr>
              <a:t>vector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267F99"/>
                </a:solidFill>
                <a:latin typeface="Consolas"/>
              </a:rPr>
              <a:t>unordered_set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seen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0000FF"/>
                </a:solidFill>
                <a:latin typeface="Consolas"/>
              </a:rPr>
              <a:t>for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n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cin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&gt;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0000FF"/>
                </a:solidFill>
                <a:latin typeface="Consolas"/>
              </a:rPr>
              <a:t>if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seen</a:t>
            </a:r>
            <a:r>
              <a:rPr sz="1400">
                <a:solidFill>
                  <a:srgbClr val="333333"/>
                </a:solidFill>
                <a:latin typeface="Consolas"/>
              </a:rPr>
              <a:t>.</a:t>
            </a:r>
            <a:r>
              <a:rPr sz="1400">
                <a:solidFill>
                  <a:srgbClr val="795E26"/>
                </a:solidFill>
                <a:latin typeface="Consolas"/>
              </a:rPr>
              <a:t>insert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.</a:t>
            </a:r>
            <a:r>
              <a:rPr sz="1400">
                <a:solidFill>
                  <a:srgbClr val="333333"/>
                </a:solidFill>
                <a:latin typeface="Consolas"/>
              </a:rPr>
              <a:t>second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08000"/>
                </a:solidFill>
                <a:latin typeface="Consolas"/>
              </a:rPr>
              <a:t>// 第一次出現才留下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    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.</a:t>
            </a:r>
            <a:r>
              <a:rPr sz="1400">
                <a:solidFill>
                  <a:srgbClr val="795E26"/>
                </a:solidFill>
                <a:latin typeface="Consolas"/>
              </a:rPr>
              <a:t>push_back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x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400">
                <a:solidFill>
                  <a:srgbClr val="0000FF"/>
                </a:solidFill>
                <a:latin typeface="Consolas"/>
              </a:rPr>
              <a:t>for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0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.</a:t>
            </a:r>
            <a:r>
              <a:rPr sz="1400">
                <a:solidFill>
                  <a:srgbClr val="795E26"/>
                </a:solidFill>
                <a:latin typeface="Consolas"/>
              </a:rPr>
              <a:t>size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+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</a:p>
          <a:p>
            <a:r>
              <a:rPr sz="1400">
                <a:solidFill>
                  <a:srgbClr val="333333"/>
                </a:solidFill>
                <a:latin typeface="Consolas"/>
              </a:rPr>
              <a:t>    </a:t>
            </a:r>
            <a:r>
              <a:rPr sz="1400">
                <a:solidFill>
                  <a:srgbClr val="795E26"/>
                </a:solidFill>
                <a:latin typeface="Consolas"/>
              </a:rPr>
              <a:t>cout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[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]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&lt;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A31515"/>
                </a:solidFill>
                <a:latin typeface="Consolas"/>
              </a:rPr>
              <a:t>" \n"</a:t>
            </a:r>
            <a:r>
              <a:rPr sz="1400">
                <a:solidFill>
                  <a:srgbClr val="333333"/>
                </a:solidFill>
                <a:latin typeface="Consolas"/>
              </a:rPr>
              <a:t>[</a:t>
            </a:r>
            <a:r>
              <a:rPr sz="1400">
                <a:solidFill>
                  <a:srgbClr val="333333"/>
                </a:solidFill>
                <a:latin typeface="Consolas"/>
              </a:rPr>
              <a:t>i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=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267F99"/>
                </a:solidFill>
                <a:latin typeface="Consolas"/>
              </a:rPr>
              <a:t>int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result</a:t>
            </a:r>
            <a:r>
              <a:rPr sz="1400">
                <a:solidFill>
                  <a:srgbClr val="333333"/>
                </a:solidFill>
                <a:latin typeface="Consolas"/>
              </a:rPr>
              <a:t>.</a:t>
            </a:r>
            <a:r>
              <a:rPr sz="1400">
                <a:solidFill>
                  <a:srgbClr val="795E26"/>
                </a:solidFill>
                <a:latin typeface="Consolas"/>
              </a:rPr>
              <a:t>size</a:t>
            </a:r>
            <a:r>
              <a:rPr sz="1400">
                <a:solidFill>
                  <a:srgbClr val="333333"/>
                </a:solidFill>
                <a:latin typeface="Consolas"/>
              </a:rPr>
              <a:t>(</a:t>
            </a:r>
            <a:r>
              <a:rPr sz="1400">
                <a:solidFill>
                  <a:srgbClr val="333333"/>
                </a:solidFill>
                <a:latin typeface="Consolas"/>
              </a:rPr>
              <a:t>)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333333"/>
                </a:solidFill>
                <a:latin typeface="Consolas"/>
              </a:rPr>
              <a:t>-</a:t>
            </a:r>
            <a:r>
              <a:rPr sz="1400">
                <a:solidFill>
                  <a:srgbClr val="333333"/>
                </a:solidFill>
                <a:latin typeface="Consolas"/>
              </a:rPr>
              <a:t> </a:t>
            </a:r>
            <a:r>
              <a:rPr sz="1400">
                <a:solidFill>
                  <a:srgbClr val="098658"/>
                </a:solidFill>
                <a:latin typeface="Consolas"/>
              </a:rPr>
              <a:t>1</a:t>
            </a:r>
            <a:r>
              <a:rPr sz="1400">
                <a:solidFill>
                  <a:srgbClr val="333333"/>
                </a:solidFill>
                <a:latin typeface="Consolas"/>
              </a:rPr>
              <a:t>]</a:t>
            </a:r>
            <a:r>
              <a:rPr sz="1400">
                <a:solidFill>
                  <a:srgbClr val="333333"/>
                </a:solidFill>
                <a:latin typeface="Consolas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c++ 基礎知識/練習11.cpp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演算法之美 — 題目列表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檔案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題目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練習1.cpp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輸入 x, y，輸出 [x, y] 區間閏年的數量，並在下一行輸出所有閏年的年份數字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練習1-adviced.cpp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練習1 的改進版：改用 std::vector 取代固定大小陣列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B2B"/>
                </a:solidFill>
              </a:rPr>
              <a:t>這個資料夾除了解題，也示範了如何發現並改進程式碼中的潛在風險（見後續頁面）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演算法之美 — 練習1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題目：輸入 x, y，輸出 [x, y] 區間閏年的數量，並在下一行輸出所有閏年的年份數字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重點：不只是解題，更展示了如何發現並改進程式碼中的潛在風險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原始版本：固定大小陣列的風險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274320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600">
                <a:solidFill>
                  <a:srgbClr val="267F99"/>
                </a:solidFill>
                <a:latin typeface="Consolas"/>
              </a:rPr>
              <a:t>int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ans</a:t>
            </a:r>
            <a:r>
              <a:rPr sz="1600">
                <a:solidFill>
                  <a:srgbClr val="333333"/>
                </a:solidFill>
                <a:latin typeface="Consolas"/>
              </a:rPr>
              <a:t>[</a:t>
            </a:r>
            <a:r>
              <a:rPr sz="1600">
                <a:solidFill>
                  <a:srgbClr val="098658"/>
                </a:solidFill>
                <a:latin typeface="Consolas"/>
              </a:rPr>
              <a:t>1000</a:t>
            </a:r>
            <a:r>
              <a:rPr sz="1600">
                <a:solidFill>
                  <a:srgbClr val="333333"/>
                </a:solidFill>
                <a:latin typeface="Consolas"/>
              </a:rPr>
              <a:t>]</a:t>
            </a:r>
            <a:r>
              <a:rPr sz="16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600">
                <a:solidFill>
                  <a:srgbClr val="0000FF"/>
                </a:solidFill>
                <a:latin typeface="Consolas"/>
              </a:rPr>
              <a:t>for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(</a:t>
            </a:r>
            <a:r>
              <a:rPr sz="1600">
                <a:solidFill>
                  <a:srgbClr val="267F99"/>
                </a:solidFill>
                <a:latin typeface="Consolas"/>
              </a:rPr>
              <a:t>int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i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=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x</a:t>
            </a:r>
            <a:r>
              <a:rPr sz="1600">
                <a:solidFill>
                  <a:srgbClr val="333333"/>
                </a:solidFill>
                <a:latin typeface="Consolas"/>
              </a:rPr>
              <a:t>;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i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&lt;</a:t>
            </a:r>
            <a:r>
              <a:rPr sz="1600">
                <a:solidFill>
                  <a:srgbClr val="333333"/>
                </a:solidFill>
                <a:latin typeface="Consolas"/>
              </a:rPr>
              <a:t>=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y</a:t>
            </a:r>
            <a:r>
              <a:rPr sz="1600">
                <a:solidFill>
                  <a:srgbClr val="333333"/>
                </a:solidFill>
                <a:latin typeface="Consolas"/>
              </a:rPr>
              <a:t>;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i</a:t>
            </a:r>
            <a:r>
              <a:rPr sz="1600">
                <a:solidFill>
                  <a:srgbClr val="333333"/>
                </a:solidFill>
                <a:latin typeface="Consolas"/>
              </a:rPr>
              <a:t>+</a:t>
            </a:r>
            <a:r>
              <a:rPr sz="1600">
                <a:solidFill>
                  <a:srgbClr val="333333"/>
                </a:solidFill>
                <a:latin typeface="Consolas"/>
              </a:rPr>
              <a:t>+</a:t>
            </a:r>
            <a:r>
              <a:rPr sz="1600">
                <a:solidFill>
                  <a:srgbClr val="333333"/>
                </a:solidFill>
                <a:latin typeface="Consolas"/>
              </a:rPr>
              <a:t>)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</a:t>
            </a:r>
            <a:r>
              <a:rPr sz="1600">
                <a:solidFill>
                  <a:srgbClr val="0000FF"/>
                </a:solidFill>
                <a:latin typeface="Consolas"/>
              </a:rPr>
              <a:t>if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(</a:t>
            </a:r>
            <a:r>
              <a:rPr sz="1600">
                <a:solidFill>
                  <a:srgbClr val="333333"/>
                </a:solidFill>
                <a:latin typeface="Consolas"/>
              </a:rPr>
              <a:t>judge</a:t>
            </a:r>
            <a:r>
              <a:rPr sz="1600">
                <a:solidFill>
                  <a:srgbClr val="333333"/>
                </a:solidFill>
                <a:latin typeface="Consolas"/>
              </a:rPr>
              <a:t>(</a:t>
            </a:r>
            <a:r>
              <a:rPr sz="1600">
                <a:solidFill>
                  <a:srgbClr val="333333"/>
                </a:solidFill>
                <a:latin typeface="Consolas"/>
              </a:rPr>
              <a:t>i</a:t>
            </a:r>
            <a:r>
              <a:rPr sz="1600">
                <a:solidFill>
                  <a:srgbClr val="333333"/>
                </a:solidFill>
                <a:latin typeface="Consolas"/>
              </a:rPr>
              <a:t>)</a:t>
            </a:r>
            <a:r>
              <a:rPr sz="1600">
                <a:solidFill>
                  <a:srgbClr val="333333"/>
                </a:solidFill>
                <a:latin typeface="Consolas"/>
              </a:rPr>
              <a:t>)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    </a:t>
            </a:r>
            <a:r>
              <a:rPr sz="1600">
                <a:solidFill>
                  <a:srgbClr val="333333"/>
                </a:solidFill>
                <a:latin typeface="Consolas"/>
              </a:rPr>
              <a:t>ans</a:t>
            </a:r>
            <a:r>
              <a:rPr sz="1600">
                <a:solidFill>
                  <a:srgbClr val="333333"/>
                </a:solidFill>
                <a:latin typeface="Consolas"/>
              </a:rPr>
              <a:t>[</a:t>
            </a:r>
            <a:r>
              <a:rPr sz="1600">
                <a:solidFill>
                  <a:srgbClr val="333333"/>
                </a:solidFill>
                <a:latin typeface="Consolas"/>
              </a:rPr>
              <a:t>cnt</a:t>
            </a:r>
            <a:r>
              <a:rPr sz="1600">
                <a:solidFill>
                  <a:srgbClr val="333333"/>
                </a:solidFill>
                <a:latin typeface="Consolas"/>
              </a:rPr>
              <a:t>+</a:t>
            </a:r>
            <a:r>
              <a:rPr sz="1600">
                <a:solidFill>
                  <a:srgbClr val="333333"/>
                </a:solidFill>
                <a:latin typeface="Consolas"/>
              </a:rPr>
              <a:t>+</a:t>
            </a:r>
            <a:r>
              <a:rPr sz="1600">
                <a:solidFill>
                  <a:srgbClr val="333333"/>
                </a:solidFill>
                <a:latin typeface="Consolas"/>
              </a:rPr>
              <a:t>]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=</a:t>
            </a:r>
            <a:r>
              <a:rPr sz="1600">
                <a:solidFill>
                  <a:srgbClr val="333333"/>
                </a:solidFill>
                <a:latin typeface="Consolas"/>
              </a:rPr>
              <a:t> </a:t>
            </a:r>
            <a:r>
              <a:rPr sz="1600">
                <a:solidFill>
                  <a:srgbClr val="333333"/>
                </a:solidFill>
                <a:latin typeface="Consolas"/>
              </a:rPr>
              <a:t>i</a:t>
            </a:r>
            <a:r>
              <a:rPr sz="1600">
                <a:solidFill>
                  <a:srgbClr val="333333"/>
                </a:solidFill>
                <a:latin typeface="Consolas"/>
              </a:rPr>
              <a:t>;</a:t>
            </a:r>
            <a:r>
              <a:rPr sz="1600">
                <a:solidFill>
                  <a:srgbClr val="333333"/>
                </a:solidFill>
                <a:latin typeface="Consolas"/>
              </a:rPr>
              <a:t>   </a:t>
            </a:r>
            <a:r>
              <a:rPr sz="1600">
                <a:solidFill>
                  <a:srgbClr val="008000"/>
                </a:solidFill>
                <a:latin typeface="Consolas"/>
              </a:rPr>
              <a:t>// cnt 超過 1000 就會越界！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    </a:t>
            </a:r>
            <a:r>
              <a:rPr sz="16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600">
                <a:solidFill>
                  <a:srgbClr val="333333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問題點：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陣列大小 1000 是憑經驗猜測的上限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若 [x, y] 區間夠大（例如 x=1, y=1000000），閏年數量會遠超過 1000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超出陣列邊界寫入 = 未定義行為（Undefined Behavior）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可能導致資料損毀、程式崩潰，且不易察覺、難以除錯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演算法之美/練習1.cpp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B57"/>
                </a:solidFill>
              </a:rPr>
              <a:t>改進版本：std::vector 動態陣列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6400800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D0D0D0"/>
            </a:solidFill>
          </a:ln>
        </p:spPr>
        <p:txBody>
          <a:bodyPr wrap="square" lIns="137160" rIns="137160" tIns="91440" bIns="91440">
            <a:spAutoFit/>
          </a:bodyPr>
          <a:lstStyle/>
          <a:p>
            <a:r>
              <a:rPr sz="1500">
                <a:solidFill>
                  <a:srgbClr val="267F99"/>
                </a:solidFill>
                <a:latin typeface="Consolas"/>
              </a:rPr>
              <a:t>vector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267F99"/>
                </a:solidFill>
                <a:latin typeface="Consolas"/>
              </a:rPr>
              <a:t>int</a:t>
            </a:r>
            <a:r>
              <a:rPr sz="1500">
                <a:solidFill>
                  <a:srgbClr val="333333"/>
                </a:solidFill>
                <a:latin typeface="Consolas"/>
              </a:rPr>
              <a:t>&gt;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ans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  <a:r>
              <a:rPr sz="1500">
                <a:solidFill>
                  <a:srgbClr val="333333"/>
                </a:solidFill>
                <a:latin typeface="Consolas"/>
              </a:rPr>
              <a:t>   </a:t>
            </a:r>
            <a:r>
              <a:rPr sz="1500">
                <a:solidFill>
                  <a:srgbClr val="008000"/>
                </a:solidFill>
                <a:latin typeface="Consolas"/>
              </a:rPr>
              <a:t>// 不用事先宣告大小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0000FF"/>
                </a:solidFill>
                <a:latin typeface="Consolas"/>
              </a:rPr>
              <a:t>for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267F99"/>
                </a:solidFill>
                <a:latin typeface="Consolas"/>
              </a:rPr>
              <a:t>int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i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=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x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i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=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y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i</a:t>
            </a:r>
            <a:r>
              <a:rPr sz="1500">
                <a:solidFill>
                  <a:srgbClr val="333333"/>
                </a:solidFill>
                <a:latin typeface="Consolas"/>
              </a:rPr>
              <a:t>+</a:t>
            </a:r>
            <a:r>
              <a:rPr sz="1500">
                <a:solidFill>
                  <a:srgbClr val="333333"/>
                </a:solidFill>
                <a:latin typeface="Consolas"/>
              </a:rPr>
              <a:t>+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</a:t>
            </a:r>
            <a:r>
              <a:rPr sz="1500">
                <a:solidFill>
                  <a:srgbClr val="0000FF"/>
                </a:solidFill>
                <a:latin typeface="Consolas"/>
              </a:rPr>
              <a:t>if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333333"/>
                </a:solidFill>
                <a:latin typeface="Consolas"/>
              </a:rPr>
              <a:t>judge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333333"/>
                </a:solidFill>
                <a:latin typeface="Consolas"/>
              </a:rPr>
              <a:t>i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{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    </a:t>
            </a:r>
            <a:r>
              <a:rPr sz="1500">
                <a:solidFill>
                  <a:srgbClr val="333333"/>
                </a:solidFill>
                <a:latin typeface="Consolas"/>
              </a:rPr>
              <a:t>ans</a:t>
            </a:r>
            <a:r>
              <a:rPr sz="1500">
                <a:solidFill>
                  <a:srgbClr val="333333"/>
                </a:solidFill>
                <a:latin typeface="Consolas"/>
              </a:rPr>
              <a:t>.</a:t>
            </a:r>
            <a:r>
              <a:rPr sz="1500">
                <a:solidFill>
                  <a:srgbClr val="795E26"/>
                </a:solidFill>
                <a:latin typeface="Consolas"/>
              </a:rPr>
              <a:t>push_back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333333"/>
                </a:solidFill>
                <a:latin typeface="Consolas"/>
              </a:rPr>
              <a:t>i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  <a:r>
              <a:rPr sz="1500">
                <a:solidFill>
                  <a:srgbClr val="333333"/>
                </a:solidFill>
                <a:latin typeface="Consolas"/>
              </a:rPr>
              <a:t>   </a:t>
            </a:r>
            <a:r>
              <a:rPr sz="1500">
                <a:solidFill>
                  <a:srgbClr val="008000"/>
                </a:solidFill>
                <a:latin typeface="Consolas"/>
              </a:rPr>
              <a:t>// 自動成長，不會越界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    </a:t>
            </a:r>
            <a:r>
              <a:rPr sz="15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50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500">
                <a:solidFill>
                  <a:srgbClr val="795E26"/>
                </a:solidFill>
                <a:latin typeface="Consolas"/>
              </a:rPr>
              <a:t>cout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ans</a:t>
            </a:r>
            <a:r>
              <a:rPr sz="1500">
                <a:solidFill>
                  <a:srgbClr val="333333"/>
                </a:solidFill>
                <a:latin typeface="Consolas"/>
              </a:rPr>
              <a:t>.</a:t>
            </a:r>
            <a:r>
              <a:rPr sz="1500">
                <a:solidFill>
                  <a:srgbClr val="795E26"/>
                </a:solidFill>
                <a:latin typeface="Consolas"/>
              </a:rPr>
              <a:t>size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795E26"/>
                </a:solidFill>
                <a:latin typeface="Consolas"/>
              </a:rPr>
              <a:t>endl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</a:p>
          <a:p>
            <a:r>
              <a:rPr sz="1500">
                <a:solidFill>
                  <a:srgbClr val="0000FF"/>
                </a:solidFill>
                <a:latin typeface="Consolas"/>
              </a:rPr>
              <a:t>for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(</a:t>
            </a:r>
            <a:r>
              <a:rPr sz="1500">
                <a:solidFill>
                  <a:srgbClr val="267F99"/>
                </a:solidFill>
                <a:latin typeface="Consolas"/>
              </a:rPr>
              <a:t>int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v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: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ans</a:t>
            </a:r>
            <a:r>
              <a:rPr sz="1500">
                <a:solidFill>
                  <a:srgbClr val="333333"/>
                </a:solidFill>
                <a:latin typeface="Consolas"/>
              </a:rPr>
              <a:t>)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795E26"/>
                </a:solidFill>
                <a:latin typeface="Consolas"/>
              </a:rPr>
              <a:t>cout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v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&lt;</a:t>
            </a:r>
            <a:r>
              <a:rPr sz="1500">
                <a:solidFill>
                  <a:srgbClr val="333333"/>
                </a:solidFill>
                <a:latin typeface="Consolas"/>
              </a:rPr>
              <a:t> </a:t>
            </a:r>
            <a:r>
              <a:rPr sz="1500">
                <a:solidFill>
                  <a:srgbClr val="A31515"/>
                </a:solidFill>
                <a:latin typeface="Consolas"/>
              </a:rPr>
              <a:t>" "</a:t>
            </a:r>
            <a:r>
              <a:rPr sz="1500">
                <a:solidFill>
                  <a:srgbClr val="333333"/>
                </a:solidFill>
                <a:latin typeface="Consolas"/>
              </a:rPr>
              <a:t>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5544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</a:rPr>
              <a:t>改進效果：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容量隨資料動態成長，無需事先猜測上限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消除陣列越界的未定義行為風險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程式碼更貼近「資料多大就存多大」的直覺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2B2B2B"/>
                </a:solidFill>
              </a:rPr>
              <a:t>檔案：演算法之美/練習1-adviced.cpp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演算法之美/練習1-adviced.cpp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改進前後對照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10058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原版 練習1.cpp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改進版 練習1-adviced.cpp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資料結構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int ans[1000]（固定大小全域陣列）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std::vector&lt;int&gt;（動態陣列）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容量上限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需事先猜測，寫死 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無需猜測，隨資料自動成長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風險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超出 1000 筆時越界，UB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B2B2B"/>
                          </a:solidFill>
                        </a:defRPr>
                      </a:pPr>
                      <a:r>
                        <a:t>無越界風險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演算法之美/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57"/>
                </a:solidFill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固定大小陣列必須「猜」容量，猜錯就會越界，是常見的 C++ 錯誤來源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std::vector 提供動態成長的陣列，是更安全、更慣用的 C++ 寫法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每個練習都可用同樣方式編譯測試：g++ 檔名.cpp -o 執行檔 &amp;&amp; ./執行檔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B2B2B"/>
                </a:solidFill>
              </a:rPr>
              <a:t>README.md 是整個倉庫的題目索引，新增或修改題目時記得同步更新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99999"/>
                </a:solidFill>
              </a:rPr>
              <a:t>cplusplus_practice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